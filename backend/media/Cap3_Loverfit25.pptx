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XOCZlXjGXifO8N7CWRY/kMR4X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13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3D7AB5"/>
          </a:solidFill>
          <a:ln cap="flat" cmpd="sng" w="12700">
            <a:solidFill>
              <a:srgbClr val="3D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65760" y="457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LOVERFIT25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CAPÍTULO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13716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lang="en-US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Alcance de Investigación, Desarrollo e Innovación del Sistema Web Loverfit25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365760" y="4206240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3D7A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365760" y="4343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90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090B0"/>
                </a:solidFill>
                <a:latin typeface="Calibri"/>
                <a:ea typeface="Calibri"/>
                <a:cs typeface="Calibri"/>
                <a:sym typeface="Calibri"/>
              </a:rPr>
              <a:t>Trabajo de Investigación • Universidad Ricardo Palma • 202</a:t>
            </a:r>
            <a:r>
              <a:rPr lang="en-US" sz="1000">
                <a:solidFill>
                  <a:srgbClr val="7090B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365760" y="16459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Contenido del Capítulo 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65760" y="1188720"/>
            <a:ext cx="640080" cy="64008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365760" y="11887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143000" y="1207008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Perspectiva I+D+i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143000" y="1517904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Investigación, desarrollo e innovación — impactos global, económico, ambiental y social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65760" y="2057400"/>
            <a:ext cx="640080" cy="64008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65760" y="20574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143000" y="2075688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Nivel del Trabajo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143000" y="2386584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Metodología ágil, ciclo de pruebas y casos de uso del sistema (CUS01–CUS19)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2926080"/>
            <a:ext cx="640080" cy="64008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65760" y="2926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43000" y="2944368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143000" y="3255264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Sistema integrado: funcionalidades, características y descripción del entregable 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" y="3794760"/>
            <a:ext cx="640080" cy="64008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65760" y="37947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143000" y="3813048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Intención Analítica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143000" y="4123944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Referentes del sector: Platanitos, Nike, Koaj y Allbirds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3.1 Perspectiva I+D+i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Los tres ejes estratégicos del proyecto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28600" y="1005840"/>
            <a:ext cx="283464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28600" y="1005840"/>
            <a:ext cx="2834640" cy="640080"/>
          </a:xfrm>
          <a:prstGeom prst="rect">
            <a:avLst/>
          </a:prstGeom>
          <a:solidFill>
            <a:srgbClr val="2E5F8A"/>
          </a:solidFill>
          <a:ln cap="flat" cmpd="sng" w="12700">
            <a:solidFill>
              <a:srgbClr val="2E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320040" y="1005840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22960" y="10058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Investigación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5760" y="1865376"/>
            <a:ext cx="164592" cy="164592"/>
          </a:xfrm>
          <a:prstGeom prst="ellipse">
            <a:avLst/>
          </a:prstGeom>
          <a:solidFill>
            <a:srgbClr val="2E5F8A"/>
          </a:solidFill>
          <a:ln cap="flat" cmpd="sng" w="12700">
            <a:solidFill>
              <a:srgbClr val="2E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12648" y="178308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Analizar preferencias de consumidoras peruanas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65760" y="2560320"/>
            <a:ext cx="164592" cy="164592"/>
          </a:xfrm>
          <a:prstGeom prst="ellipse">
            <a:avLst/>
          </a:prstGeom>
          <a:solidFill>
            <a:srgbClr val="2E5F8A"/>
          </a:solidFill>
          <a:ln cap="flat" cmpd="sng" w="12700">
            <a:solidFill>
              <a:srgbClr val="2E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12648" y="2478024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Estudiar herramientas tecnológicas óptimas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65760" y="3255264"/>
            <a:ext cx="164592" cy="164592"/>
          </a:xfrm>
          <a:prstGeom prst="ellipse">
            <a:avLst/>
          </a:prstGeom>
          <a:solidFill>
            <a:srgbClr val="2E5F8A"/>
          </a:solidFill>
          <a:ln cap="flat" cmpd="sng" w="12700">
            <a:solidFill>
              <a:srgbClr val="2E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12648" y="3172968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Evaluar sistemas de gestión de ventas y pagos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65760" y="3950208"/>
            <a:ext cx="164592" cy="164592"/>
          </a:xfrm>
          <a:prstGeom prst="ellipse">
            <a:avLst/>
          </a:prstGeom>
          <a:solidFill>
            <a:srgbClr val="2E5F8A"/>
          </a:solidFill>
          <a:ln cap="flat" cmpd="sng" w="12700">
            <a:solidFill>
              <a:srgbClr val="2E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12648" y="3867912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Revisar modelos de atención al cliente digital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200400" y="1005840"/>
            <a:ext cx="283464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200400" y="1005840"/>
            <a:ext cx="2834640" cy="640080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291840" y="1005840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794760" y="10058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337560" y="1865376"/>
            <a:ext cx="164592" cy="164592"/>
          </a:xfrm>
          <a:prstGeom prst="ellipse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584448" y="178308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Diseñar sistema web personalizado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337560" y="2560320"/>
            <a:ext cx="164592" cy="164592"/>
          </a:xfrm>
          <a:prstGeom prst="ellipse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584448" y="2478024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Gestión de pedidos y seguimiento de envíos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337560" y="3255264"/>
            <a:ext cx="164592" cy="164592"/>
          </a:xfrm>
          <a:prstGeom prst="ellipse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3584448" y="3172968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Soporte de garantías postventa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337560" y="3950208"/>
            <a:ext cx="164592" cy="164592"/>
          </a:xfrm>
          <a:prstGeom prst="ellipse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3584448" y="3867912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Automatizar procesos clave y minimizar errores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172200" y="1005840"/>
            <a:ext cx="2834640" cy="3840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6172200" y="1005840"/>
            <a:ext cx="2834640" cy="640080"/>
          </a:xfrm>
          <a:prstGeom prst="rect">
            <a:avLst/>
          </a:prstGeom>
          <a:solidFill>
            <a:srgbClr val="8B2A1A"/>
          </a:solidFill>
          <a:ln cap="flat" cmpd="sng" w="12700">
            <a:solidFill>
              <a:srgbClr val="8B2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263640" y="1005840"/>
            <a:ext cx="502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766560" y="10058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Innovación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309360" y="1865376"/>
            <a:ext cx="164592" cy="164592"/>
          </a:xfrm>
          <a:prstGeom prst="ellipse">
            <a:avLst/>
          </a:prstGeom>
          <a:solidFill>
            <a:srgbClr val="8B2A1A"/>
          </a:solidFill>
          <a:ln cap="flat" cmpd="sng" w="12700">
            <a:solidFill>
              <a:srgbClr val="8B2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556248" y="178308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Personalizar experiencia del cliente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309360" y="2560320"/>
            <a:ext cx="164592" cy="164592"/>
          </a:xfrm>
          <a:prstGeom prst="ellipse">
            <a:avLst/>
          </a:prstGeom>
          <a:solidFill>
            <a:srgbClr val="8B2A1A"/>
          </a:solidFill>
          <a:ln cap="flat" cmpd="sng" w="12700">
            <a:solidFill>
              <a:srgbClr val="8B2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556248" y="2478024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Integración multicanal con redes sociales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309360" y="3255264"/>
            <a:ext cx="164592" cy="164592"/>
          </a:xfrm>
          <a:prstGeom prst="ellipse">
            <a:avLst/>
          </a:prstGeom>
          <a:solidFill>
            <a:srgbClr val="8B2A1A"/>
          </a:solidFill>
          <a:ln cap="flat" cmpd="sng" w="12700">
            <a:solidFill>
              <a:srgbClr val="8B2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556248" y="3172968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Mejorar accesibilidad y dinamismo del servicio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309360" y="3950208"/>
            <a:ext cx="164592" cy="164592"/>
          </a:xfrm>
          <a:prstGeom prst="ellipse">
            <a:avLst/>
          </a:prstGeom>
          <a:solidFill>
            <a:srgbClr val="8B2A1A"/>
          </a:solidFill>
          <a:ln cap="flat" cmpd="sng" w="12700">
            <a:solidFill>
              <a:srgbClr val="8B2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556248" y="3867912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Chatbot y automatización de atención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3.1 Perspectiva I+D+i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Impactos del sistema web de Loverfit25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228600" y="1024128"/>
            <a:ext cx="425196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228600" y="1024128"/>
            <a:ext cx="4251960" cy="438912"/>
          </a:xfrm>
          <a:prstGeom prst="rect">
            <a:avLst/>
          </a:prstGeom>
          <a:solidFill>
            <a:srgbClr val="2E5F8A"/>
          </a:solidFill>
          <a:ln cap="flat" cmpd="sng" w="12700">
            <a:solidFill>
              <a:srgbClr val="2E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20040" y="1024128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🌎 Global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38328" y="1645920"/>
            <a:ext cx="128016" cy="128016"/>
          </a:xfrm>
          <a:prstGeom prst="ellipse">
            <a:avLst/>
          </a:prstGeom>
          <a:solidFill>
            <a:srgbClr val="2E5F8A"/>
          </a:solidFill>
          <a:ln cap="flat" cmpd="sng" w="12700">
            <a:solidFill>
              <a:srgbClr val="2E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548640" y="152704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Digitalización de negocios emergentes en Latinoamérica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38328" y="2048256"/>
            <a:ext cx="128016" cy="128016"/>
          </a:xfrm>
          <a:prstGeom prst="ellipse">
            <a:avLst/>
          </a:prstGeom>
          <a:solidFill>
            <a:srgbClr val="2E5F8A"/>
          </a:solidFill>
          <a:ln cap="flat" cmpd="sng" w="12700">
            <a:solidFill>
              <a:srgbClr val="2E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548640" y="1929384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Mayor competitividad frente a marcas globales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38328" y="2450592"/>
            <a:ext cx="128016" cy="128016"/>
          </a:xfrm>
          <a:prstGeom prst="ellipse">
            <a:avLst/>
          </a:prstGeom>
          <a:solidFill>
            <a:srgbClr val="2E5F8A"/>
          </a:solidFill>
          <a:ln cap="flat" cmpd="sng" w="12700">
            <a:solidFill>
              <a:srgbClr val="2E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548640" y="233172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Caso de éxito replicable para emprendedores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709160" y="1024128"/>
            <a:ext cx="425196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4709160" y="1024128"/>
            <a:ext cx="4251960" cy="438912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800600" y="1024128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💰 Económico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818888" y="1645920"/>
            <a:ext cx="128016" cy="128016"/>
          </a:xfrm>
          <a:prstGeom prst="ellipse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5029200" y="152704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Incremento de ventas por mayor conversión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818888" y="2048256"/>
            <a:ext cx="128016" cy="128016"/>
          </a:xfrm>
          <a:prstGeom prst="ellipse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5029200" y="1929384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Reducción de costos operativos vía automatización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18888" y="2450592"/>
            <a:ext cx="128016" cy="128016"/>
          </a:xfrm>
          <a:prstGeom prst="ellipse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5029200" y="233172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Escalabilidad sin costos proporcionales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818888" y="2852928"/>
            <a:ext cx="128016" cy="128016"/>
          </a:xfrm>
          <a:prstGeom prst="ellipse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5029200" y="2734056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Control eficiente de inventario y pedidos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228600" y="3035808"/>
            <a:ext cx="425196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228600" y="3035808"/>
            <a:ext cx="4251960" cy="438912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20040" y="3035808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🌿 Ambiental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38328" y="3657600"/>
            <a:ext cx="128016" cy="128016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548640" y="353872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Menos papel al digitalizar pedidos y facturación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38328" y="4059936"/>
            <a:ext cx="128016" cy="128016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548640" y="3941064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Rutas de delivery optimizadas (menos emisiones)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38328" y="4462272"/>
            <a:ext cx="128016" cy="128016"/>
          </a:xfrm>
          <a:prstGeom prst="ellipse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548640" y="434340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Información sobre materiales sostenibles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709160" y="3035808"/>
            <a:ext cx="425196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709160" y="3035808"/>
            <a:ext cx="4251960" cy="438912"/>
          </a:xfrm>
          <a:prstGeom prst="rect">
            <a:avLst/>
          </a:prstGeom>
          <a:solidFill>
            <a:srgbClr val="8B2A1A"/>
          </a:solidFill>
          <a:ln cap="flat" cmpd="sng" w="12700">
            <a:solidFill>
              <a:srgbClr val="8B2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800600" y="3035808"/>
            <a:ext cx="4023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👩 Social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818888" y="3657600"/>
            <a:ext cx="128016" cy="128016"/>
          </a:xfrm>
          <a:prstGeom prst="ellipse">
            <a:avLst/>
          </a:prstGeom>
          <a:solidFill>
            <a:srgbClr val="8B2A1A"/>
          </a:solidFill>
          <a:ln cap="flat" cmpd="sng" w="12700">
            <a:solidFill>
              <a:srgbClr val="8B2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029200" y="3538728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Atención al cliente 24/7 más rápida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818888" y="4059936"/>
            <a:ext cx="128016" cy="128016"/>
          </a:xfrm>
          <a:prstGeom prst="ellipse">
            <a:avLst/>
          </a:prstGeom>
          <a:solidFill>
            <a:srgbClr val="8B2A1A"/>
          </a:solidFill>
          <a:ln cap="flat" cmpd="sng" w="12700">
            <a:solidFill>
              <a:srgbClr val="8B2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5029200" y="3941064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Accesibilidad total sin restricciones de horario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818888" y="4462272"/>
            <a:ext cx="128016" cy="128016"/>
          </a:xfrm>
          <a:prstGeom prst="ellipse">
            <a:avLst/>
          </a:prstGeom>
          <a:solidFill>
            <a:srgbClr val="8B2A1A"/>
          </a:solidFill>
          <a:ln cap="flat" cmpd="sng" w="12700">
            <a:solidFill>
              <a:srgbClr val="8B2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5029200" y="4343400"/>
            <a:ext cx="3794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Empoderamiento femenino — liderado por mujer emprendedora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3.2 Nivel del Trabajo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Metodología ágil e iterativa de desarrollo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82880" y="1051560"/>
            <a:ext cx="210312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82880" y="1051560"/>
            <a:ext cx="2103120" cy="457200"/>
          </a:xfrm>
          <a:prstGeom prst="rect">
            <a:avLst/>
          </a:prstGeom>
          <a:solidFill>
            <a:srgbClr val="2E5F8A"/>
          </a:solidFill>
          <a:ln cap="flat" cmpd="sng" w="12700">
            <a:solidFill>
              <a:srgbClr val="2E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256032" y="105156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40080" y="10515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Prototipo Mínimo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74320" y="1600200"/>
            <a:ext cx="19202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Implementar funcionalidades básicas: filtros de tallas, carrito simplificado, catálogo.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2286000" y="2148840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F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5F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2423160" y="1051560"/>
            <a:ext cx="210312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2423160" y="1051560"/>
            <a:ext cx="2103120" cy="457200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2496312" y="105156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2880360" y="10515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Pruebas con Usuarios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2514600" y="1600200"/>
            <a:ext cx="19202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Validaciones con usuarios reales. Versiones beta, Google Analytics y pruebas A/B.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526280" y="2148840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F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5F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663440" y="1051560"/>
            <a:ext cx="210312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663440" y="1051560"/>
            <a:ext cx="2103120" cy="457200"/>
          </a:xfrm>
          <a:prstGeom prst="rect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736592" y="105156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120640" y="10515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Ajuste y Mejora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754880" y="1600200"/>
            <a:ext cx="19202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Mejoras basadas en retroalimentación. Corrección de errores y optimización de flujos.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766560" y="2148840"/>
            <a:ext cx="137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F8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E5F8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6903720" y="1051560"/>
            <a:ext cx="210312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6903720" y="1051560"/>
            <a:ext cx="2103120" cy="457200"/>
          </a:xfrm>
          <a:prstGeom prst="rect">
            <a:avLst/>
          </a:prstGeom>
          <a:solidFill>
            <a:srgbClr val="8B2A1A"/>
          </a:solidFill>
          <a:ln cap="flat" cmpd="sng" w="12700">
            <a:solidFill>
              <a:srgbClr val="8B2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6976872" y="1051560"/>
            <a:ext cx="384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7360920" y="10515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Despliegue 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995160" y="1600200"/>
            <a:ext cx="19202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Publicación del sistema validado con estándares de calidad y usabilidad.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182880" y="3931920"/>
            <a:ext cx="8778240" cy="86868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D213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320040" y="4005072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Tipos de pruebas: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20040" y="4315968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Carga y rendimiento  •  Seguridad en pagos  •  Funcionalidad UX  •  Compatibilidad móvil  •  Pruebas A/B  •  Google Analytics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3.2 Nivel del Trabajo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Casos de Uso del Sistema (CUS01 – CUS19)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228600" y="1024128"/>
            <a:ext cx="420624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228600" y="1024128"/>
            <a:ext cx="4206240" cy="347472"/>
          </a:xfrm>
          <a:prstGeom prst="rect">
            <a:avLst/>
          </a:prstGeom>
          <a:solidFill>
            <a:srgbClr val="2E5F8A"/>
          </a:solidFill>
          <a:ln cap="flat" cmpd="sng" w="12700">
            <a:solidFill>
              <a:srgbClr val="2E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320040" y="102412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Autenticación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65760" y="140817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CUS01 – Iniciar Sesión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754880" y="1024128"/>
            <a:ext cx="4206240" cy="352958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4754880" y="1024128"/>
            <a:ext cx="4206240" cy="347472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4846320" y="102412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Atención al Cliente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892040" y="140817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CUS02 – Crear Cuenta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892040" y="171907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CUS03 – Confirmar Cuenta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892040" y="202996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CUS04 – Gestionar Perfil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892040" y="234086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CUS05 – Consultar Pago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892040" y="265176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CUS06 – Consultar Estado de Pedido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892040" y="296265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CUS07 – Agregar al Carrito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892040" y="327355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CUS08 – Consultar Carrito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892040" y="35844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CUS09 – Realizar Compra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892040" y="389534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CUS10 – Seleccionar Método de Pago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892040" y="420624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CUS11 – Realizar Pago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28600" y="1847088"/>
            <a:ext cx="4206240" cy="197510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228600" y="1847088"/>
            <a:ext cx="4206240" cy="347472"/>
          </a:xfrm>
          <a:prstGeom prst="rect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320040" y="184708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de Ventas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65760" y="223113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CUS12 – Gestionar Usuarios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65760" y="254203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CUS13 – Reporte de Pagos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65760" y="285292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CUS14 – Reporte de Ventas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65760" y="316382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CUS15 – Exportar Datos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65760" y="347472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CUS16 – Confirmar Pago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754880" y="4645152"/>
            <a:ext cx="4206240" cy="731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754880" y="4645152"/>
            <a:ext cx="4206240" cy="347472"/>
          </a:xfrm>
          <a:prstGeom prst="rect">
            <a:avLst/>
          </a:prstGeom>
          <a:solidFill>
            <a:srgbClr val="8B2A1A"/>
          </a:solidFill>
          <a:ln cap="flat" cmpd="sng" w="12700">
            <a:solidFill>
              <a:srgbClr val="8B2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846320" y="464515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Seguimiento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892040" y="502920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CUS17 – Gestionar Estado de Pedido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228600" y="3913632"/>
            <a:ext cx="4206240" cy="10424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228600" y="3913632"/>
            <a:ext cx="4206240" cy="347472"/>
          </a:xfrm>
          <a:prstGeom prst="rect">
            <a:avLst/>
          </a:prstGeom>
          <a:solidFill>
            <a:srgbClr val="4A1A7A"/>
          </a:solidFill>
          <a:ln cap="flat" cmpd="sng" w="12700">
            <a:solidFill>
              <a:srgbClr val="4A1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320040" y="391363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de Almacén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65760" y="429768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CUS18 – Gestionar Productos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365760" y="460857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CUS19 – Gestionar Categorías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3.3 Producto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Sistema de gestión integrado para Loverfit25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82880" y="1024128"/>
            <a:ext cx="210312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182880" y="1133856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256032" y="1591056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Autenticación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256032" y="1920240"/>
            <a:ext cx="19568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Registro, inicio de sesión y recuperación de contraseña con validación en tiempo real.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2395728" y="1024128"/>
            <a:ext cx="210312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2395728" y="1133856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468880" y="1591056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Catálogo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2468880" y="1920240"/>
            <a:ext cx="19568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Imágenes HD, descripciones detalladas, categorías y filtros por talla, color y precio.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608576" y="1024128"/>
            <a:ext cx="210312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4608576" y="1133856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681728" y="1591056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Búsqueda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681728" y="1920240"/>
            <a:ext cx="19568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Autocompletado en tiempo real. Filtros combinados por categoría, talla, color y rango de precio.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6821424" y="1024128"/>
            <a:ext cx="210312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6821424" y="1133856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894576" y="1591056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Carrito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6894576" y="1920240"/>
            <a:ext cx="19568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Modificar cantidades, visualizar totales actualizados y 'guardar para después'.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182880" y="2944368"/>
            <a:ext cx="210312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182880" y="3054096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256032" y="3511296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Pagos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256032" y="3840480"/>
            <a:ext cx="19568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Izipay, OpenPay, Yape, Plin. Confirmación automática y seguimiento de transacciones.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2395728" y="2944368"/>
            <a:ext cx="210312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2395728" y="3054096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468880" y="3511296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Pedidos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2468880" y="3840480"/>
            <a:ext cx="19568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Historial de compras con estados: confirmado → preparación → enviado → entregado.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608576" y="2944368"/>
            <a:ext cx="210312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4608576" y="3054096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681728" y="3511296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681728" y="3840480"/>
            <a:ext cx="19568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Panel back-office: gestión de productos, precios, inventario, promociones y reportes.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821424" y="2944368"/>
            <a:ext cx="210312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6821424" y="3054096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894576" y="3511296"/>
            <a:ext cx="195681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Reportes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894576" y="3840480"/>
            <a:ext cx="195681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Reportes de ventas y pagos exportables. Dashboard con métricas clave del negocio.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cap="flat" cmpd="sng" w="12700">
            <a:solidFill>
              <a:srgbClr val="1A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3.3 Intención Analítica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E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EE"/>
                </a:solidFill>
                <a:latin typeface="Calibri"/>
                <a:ea typeface="Calibri"/>
                <a:cs typeface="Calibri"/>
                <a:sym typeface="Calibri"/>
              </a:rPr>
              <a:t>Referentes del sector que inspiran la solución de Loverfit25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182880" y="1005840"/>
            <a:ext cx="877824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182880" y="1005840"/>
            <a:ext cx="182880" cy="914400"/>
          </a:xfrm>
          <a:prstGeom prst="rect">
            <a:avLst/>
          </a:prstGeom>
          <a:solidFill>
            <a:srgbClr val="1A6B3A"/>
          </a:solidFill>
          <a:ln cap="flat" cmpd="sng" w="12700">
            <a:solidFill>
              <a:srgbClr val="1A6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457200" y="106070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6B3A"/>
                </a:solidFill>
                <a:latin typeface="Calibri"/>
                <a:ea typeface="Calibri"/>
                <a:cs typeface="Calibri"/>
                <a:sym typeface="Calibri"/>
              </a:rPr>
              <a:t>Platanitos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57200" y="135331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Perú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8"/>
          <p:cNvCxnSpPr/>
          <p:nvPr/>
        </p:nvCxnSpPr>
        <p:spPr>
          <a:xfrm>
            <a:off x="2331720" y="1115568"/>
            <a:ext cx="0" cy="694944"/>
          </a:xfrm>
          <a:prstGeom prst="straightConnector1">
            <a:avLst/>
          </a:prstGeom>
          <a:noFill/>
          <a:ln cap="flat" cmpd="sng" w="12700">
            <a:solidFill>
              <a:srgbClr val="DDE5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8"/>
          <p:cNvSpPr/>
          <p:nvPr/>
        </p:nvSpPr>
        <p:spPr>
          <a:xfrm>
            <a:off x="2468880" y="1060704"/>
            <a:ext cx="3200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Innovación: E-commerce desde 2010. Sistema 'Omni': inventario en tiempo real por cada tienda visible al cliente online.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8"/>
          <p:cNvCxnSpPr/>
          <p:nvPr/>
        </p:nvCxnSpPr>
        <p:spPr>
          <a:xfrm>
            <a:off x="5715000" y="1115568"/>
            <a:ext cx="0" cy="694944"/>
          </a:xfrm>
          <a:prstGeom prst="straightConnector1">
            <a:avLst/>
          </a:prstGeom>
          <a:noFill/>
          <a:ln cap="flat" cmpd="sng" w="12700">
            <a:solidFill>
              <a:srgbClr val="DDE5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8"/>
          <p:cNvSpPr/>
          <p:nvPr/>
        </p:nvSpPr>
        <p:spPr>
          <a:xfrm>
            <a:off x="5852160" y="1060704"/>
            <a:ext cx="2971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↗ Atendió mercado de provincias desatendido. Amplió red de sucursales a nivel nacional.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182880" y="2011680"/>
            <a:ext cx="877824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182880" y="2011680"/>
            <a:ext cx="182880" cy="914400"/>
          </a:xfrm>
          <a:prstGeom prst="rect">
            <a:avLst/>
          </a:prstGeom>
          <a:solidFill>
            <a:srgbClr val="2E5F8A"/>
          </a:solidFill>
          <a:ln cap="flat" cmpd="sng" w="12700">
            <a:solidFill>
              <a:srgbClr val="2E5F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457200" y="206654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F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5F8A"/>
                </a:solidFill>
                <a:latin typeface="Calibri"/>
                <a:ea typeface="Calibri"/>
                <a:cs typeface="Calibri"/>
                <a:sym typeface="Calibri"/>
              </a:rPr>
              <a:t>Nike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57200" y="235915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8"/>
          <p:cNvCxnSpPr/>
          <p:nvPr/>
        </p:nvCxnSpPr>
        <p:spPr>
          <a:xfrm>
            <a:off x="2331720" y="2121408"/>
            <a:ext cx="0" cy="694944"/>
          </a:xfrm>
          <a:prstGeom prst="straightConnector1">
            <a:avLst/>
          </a:prstGeom>
          <a:noFill/>
          <a:ln cap="flat" cmpd="sng" w="12700">
            <a:solidFill>
              <a:srgbClr val="DDE5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8"/>
          <p:cNvSpPr/>
          <p:nvPr/>
        </p:nvSpPr>
        <p:spPr>
          <a:xfrm>
            <a:off x="2468880" y="2066544"/>
            <a:ext cx="3200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Innovación: IA para personalización de experiencia online. Pruebas automatizadas de rendimiento y UX antes de cada lanzamiento.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8"/>
          <p:cNvCxnSpPr/>
          <p:nvPr/>
        </p:nvCxnSpPr>
        <p:spPr>
          <a:xfrm>
            <a:off x="5715000" y="2121408"/>
            <a:ext cx="0" cy="694944"/>
          </a:xfrm>
          <a:prstGeom prst="straightConnector1">
            <a:avLst/>
          </a:prstGeom>
          <a:noFill/>
          <a:ln cap="flat" cmpd="sng" w="12700">
            <a:solidFill>
              <a:srgbClr val="DDE5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8"/>
          <p:cNvSpPr/>
          <p:nvPr/>
        </p:nvSpPr>
        <p:spPr>
          <a:xfrm>
            <a:off x="5852160" y="2066544"/>
            <a:ext cx="2971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↗ Plataforma que soporta picos masivos de tráfico con experiencia personalizada por usuario.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182880" y="3017520"/>
            <a:ext cx="877824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182880" y="3017520"/>
            <a:ext cx="182880" cy="914400"/>
          </a:xfrm>
          <a:prstGeom prst="rect">
            <a:avLst/>
          </a:prstGeom>
          <a:solidFill>
            <a:srgbClr val="8B6914"/>
          </a:solidFill>
          <a:ln cap="flat" cmpd="sng" w="12700">
            <a:solidFill>
              <a:srgbClr val="8B6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457200" y="307238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9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6914"/>
                </a:solidFill>
                <a:latin typeface="Calibri"/>
                <a:ea typeface="Calibri"/>
                <a:cs typeface="Calibri"/>
                <a:sym typeface="Calibri"/>
              </a:rPr>
              <a:t>Permoda / Koaj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57200" y="336499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Colombia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8"/>
          <p:cNvCxnSpPr/>
          <p:nvPr/>
        </p:nvCxnSpPr>
        <p:spPr>
          <a:xfrm>
            <a:off x="2331720" y="3127248"/>
            <a:ext cx="0" cy="694944"/>
          </a:xfrm>
          <a:prstGeom prst="straightConnector1">
            <a:avLst/>
          </a:prstGeom>
          <a:noFill/>
          <a:ln cap="flat" cmpd="sng" w="12700">
            <a:solidFill>
              <a:srgbClr val="DDE5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8"/>
          <p:cNvSpPr/>
          <p:nvPr/>
        </p:nvSpPr>
        <p:spPr>
          <a:xfrm>
            <a:off x="2468880" y="3072384"/>
            <a:ext cx="3200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Innovación: Sistema PLM con diseño 3D. Digitalización total del ciclo de vida del producto desde concepción hasta fabricación.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8"/>
          <p:cNvCxnSpPr/>
          <p:nvPr/>
        </p:nvCxnSpPr>
        <p:spPr>
          <a:xfrm>
            <a:off x="5715000" y="3127248"/>
            <a:ext cx="0" cy="694944"/>
          </a:xfrm>
          <a:prstGeom prst="straightConnector1">
            <a:avLst/>
          </a:prstGeom>
          <a:noFill/>
          <a:ln cap="flat" cmpd="sng" w="12700">
            <a:solidFill>
              <a:srgbClr val="DDE5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8"/>
          <p:cNvSpPr/>
          <p:nvPr/>
        </p:nvSpPr>
        <p:spPr>
          <a:xfrm>
            <a:off x="5852160" y="3072384"/>
            <a:ext cx="2971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↗ Lanzamiento de colecciones más rápido y con mejores márgenes. Eliminación de prototipos físicos.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182880" y="4023360"/>
            <a:ext cx="877824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182880" y="4023360"/>
            <a:ext cx="182880" cy="914400"/>
          </a:xfrm>
          <a:prstGeom prst="rect">
            <a:avLst/>
          </a:prstGeom>
          <a:solidFill>
            <a:srgbClr val="8B2A1A"/>
          </a:solidFill>
          <a:ln cap="flat" cmpd="sng" w="12700">
            <a:solidFill>
              <a:srgbClr val="8B2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457200" y="407822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2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2A1A"/>
                </a:solidFill>
                <a:latin typeface="Calibri"/>
                <a:ea typeface="Calibri"/>
                <a:cs typeface="Calibri"/>
                <a:sym typeface="Calibri"/>
              </a:rPr>
              <a:t>Allbirds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457200" y="437083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" name="Google Shape;288;p8"/>
          <p:cNvCxnSpPr/>
          <p:nvPr/>
        </p:nvCxnSpPr>
        <p:spPr>
          <a:xfrm>
            <a:off x="2331720" y="4133088"/>
            <a:ext cx="0" cy="694944"/>
          </a:xfrm>
          <a:prstGeom prst="straightConnector1">
            <a:avLst/>
          </a:prstGeom>
          <a:noFill/>
          <a:ln cap="flat" cmpd="sng" w="12700">
            <a:solidFill>
              <a:srgbClr val="DDE5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8"/>
          <p:cNvSpPr/>
          <p:nvPr/>
        </p:nvSpPr>
        <p:spPr>
          <a:xfrm>
            <a:off x="2468880" y="4078224"/>
            <a:ext cx="3200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Innovación: Shopify integrado con tiendas físicas vía Shopify POS para datos unificados de canales físico y digital.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8"/>
          <p:cNvCxnSpPr/>
          <p:nvPr/>
        </p:nvCxnSpPr>
        <p:spPr>
          <a:xfrm>
            <a:off x="5715000" y="4133088"/>
            <a:ext cx="0" cy="694944"/>
          </a:xfrm>
          <a:prstGeom prst="straightConnector1">
            <a:avLst/>
          </a:prstGeom>
          <a:noFill/>
          <a:ln cap="flat" cmpd="sng" w="12700">
            <a:solidFill>
              <a:srgbClr val="DDE5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8"/>
          <p:cNvSpPr/>
          <p:nvPr/>
        </p:nvSpPr>
        <p:spPr>
          <a:xfrm>
            <a:off x="5852160" y="4078224"/>
            <a:ext cx="29718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↗ Ajuste ágil de inventario y promociones basado en comportamiento real de compra offline y online.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2137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3D7AB5"/>
          </a:solidFill>
          <a:ln cap="flat" cmpd="sng" w="12700">
            <a:solidFill>
              <a:srgbClr val="3D7A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 del Capítulo 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365760" y="1261872"/>
            <a:ext cx="274320" cy="27432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365760" y="126187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777240" y="118872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9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5D9EE"/>
                </a:solidFill>
                <a:latin typeface="Calibri"/>
                <a:ea typeface="Calibri"/>
                <a:cs typeface="Calibri"/>
                <a:sym typeface="Calibri"/>
              </a:rPr>
              <a:t>El alcance I+D+i de Loverfit25 cubre investigación de preferencias peruanas, desarrollo de sistema web personalizado e innovación en experiencia del cliente.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365760" y="2066544"/>
            <a:ext cx="274320" cy="27432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365760" y="206654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777240" y="1993392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9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5D9EE"/>
                </a:solidFill>
                <a:latin typeface="Calibri"/>
                <a:ea typeface="Calibri"/>
                <a:cs typeface="Calibri"/>
                <a:sym typeface="Calibri"/>
              </a:rPr>
              <a:t>El impacto es transversal: competitividad global, ahorro económico, reducción de papel y empoderamiento femenino.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365760" y="2871216"/>
            <a:ext cx="274320" cy="27432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365760" y="287121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777240" y="2798064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9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5D9EE"/>
                </a:solidFill>
                <a:latin typeface="Calibri"/>
                <a:ea typeface="Calibri"/>
                <a:cs typeface="Calibri"/>
                <a:sym typeface="Calibri"/>
              </a:rPr>
              <a:t>Se define un sistema con 19 casos de uso organizados en módulos: autenticación, atención al cliente, ventas, seguimiento y almacén.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365760" y="3675888"/>
            <a:ext cx="274320" cy="27432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365760" y="36758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13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213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777240" y="3602736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D9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5D9EE"/>
                </a:solidFill>
                <a:latin typeface="Calibri"/>
                <a:ea typeface="Calibri"/>
                <a:cs typeface="Calibri"/>
                <a:sym typeface="Calibri"/>
              </a:rPr>
              <a:t>Referentes como Platanitos, Nike y Koaj demuestran que la digitalización genera ventajas operativas y competitivas concretas y medibles.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9"/>
          <p:cNvCxnSpPr/>
          <p:nvPr/>
        </p:nvCxnSpPr>
        <p:spPr>
          <a:xfrm>
            <a:off x="365760" y="4480560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3D7A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9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80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080A0"/>
                </a:solidFill>
                <a:latin typeface="Calibri"/>
                <a:ea typeface="Calibri"/>
                <a:cs typeface="Calibri"/>
                <a:sym typeface="Calibri"/>
              </a:rPr>
              <a:t>Loverfit25 • Trabajo de Investigación • 202</a:t>
            </a:r>
            <a:r>
              <a:rPr lang="en-US" sz="1000">
                <a:solidFill>
                  <a:srgbClr val="5080A0"/>
                </a:solidFill>
                <a:latin typeface="Calibri"/>
                <a:ea typeface="Calibri"/>
                <a:cs typeface="Calibri"/>
                <a:sym typeface="Calibri"/>
              </a:rPr>
              <a:t>6-I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2026-05-20T00:15:11Z</dcterms:created>
  <dc:creator>PptxGenJS</dc:creator>
</cp:coreProperties>
</file>